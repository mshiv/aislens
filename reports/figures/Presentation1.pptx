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3"/>
  </p:normalViewPr>
  <p:slideViewPr>
    <p:cSldViewPr snapToGrid="0">
      <p:cViewPr varScale="1">
        <p:scale>
          <a:sx n="94" d="100"/>
          <a:sy n="94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6E606-1DF2-2242-BA4F-B6E663FE7F2E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20F55-A2D4-D046-A954-55527EB8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7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20F55-A2D4-D046-A954-55527EB8AA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24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607D-274C-242C-9A8B-49337E6DD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FD6DD-9623-2D41-D0FD-701CA4939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06FD-B5C6-226C-1692-6344C4335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8BB9-7619-0734-6BCA-339D7F09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ACF39-5AAC-7C05-3931-9FE8488E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5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C5E78-AAA8-A1B2-C6DB-3FD847AF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185A-D614-B573-96A6-B9742E78D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D38F-CAFF-B603-AFE6-3FF5A4D9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6B30B-8BCE-D775-CB15-7CCD3AB7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91B72-32EA-151E-D66F-E68BBCA7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4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C759-AB47-D793-7E98-CBF0746B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082A0-6F72-7003-B306-7E4CB47E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635F-DA91-817D-E36D-4C1AA615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4FFDB-C4DE-B101-FBF3-D44D572D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7FBC-56A0-6E7F-3718-40115010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9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6227-69D6-8AC1-3EB7-C1122358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F220-581B-5A19-37A2-1A133FE8E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FF824-9C9D-C621-D8BF-85A442155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64E85-F642-8A57-EB88-557A38DA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DA8A3-B0E3-8126-FE8B-EB117C38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4E959-468D-9ADD-6FEB-2CD51C9A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7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24F5-4BFB-23C4-35B4-963DB610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1D256-4309-D6FF-8778-547EB89E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C818C-E3F9-AD76-DC29-6366887D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46BC8-E69B-7C86-8496-4D521DCEA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14AA9-D78D-8720-9868-EA4008AE6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50A8E-B8AB-C116-11CD-A102FD29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3CD89-0B9E-4D9F-18FD-24110DD7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EDC77-9311-692A-1BF1-9B480D60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1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5563-1912-C216-A4DD-E4A03E88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19852-6181-3052-30E0-DF0F0B49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02FB8-C9BF-505F-447A-4CE7E227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F8AF5-423A-C666-5D51-86A4C8CD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9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FFE20-D3A5-E702-180E-4B735875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A572B-91A6-9C53-4A5B-A79D7DD2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8D87E-C247-3A05-2365-613A200B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3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6426-A484-15BA-CE6B-AFE5A545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F137-F58D-E422-B52D-3BD5D5E7F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E6CCE-72A9-C98D-96BD-0EF6DE679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71184-4475-9CD5-07B2-410D767D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3A24D-4739-17FF-4D7F-A3DA0E64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FFB1F-BA4D-EC42-9174-B25000E6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4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93FE-0562-99AB-5198-3D5E6801C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D3FFC-35E7-EB56-2C8E-8D08ACA8A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3E228-6A15-7F6E-A83B-B1E1CDBC2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A7749-8EE2-EB26-DE7C-8170FCA4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D1F14-3266-C488-24EA-E4CBC547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6617-9011-CDFC-39F1-63909B41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0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55EA-CFA4-BAD6-4F19-28247742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97E01-6395-6EAC-0B5C-137EF37B7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A7E82-A49D-4045-EC79-2CA87C17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EC11F-DD26-30E5-2098-191396F2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D22F-6676-92E3-23C5-C21D96C2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5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0CF21-F9DB-75BE-5FD6-3228E9941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95654-1FAB-EF56-8168-491D6A8DB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D788F-23CF-278B-4DE1-43DD774F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CF59-2C67-C7C1-AFCD-90EE13E4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63CA-BEB9-80CE-D946-0C6DD99E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8CF1F-795B-0B2A-CA19-676735B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0C072-8CB1-8360-70BC-224E8F1A9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8DA76-4197-27B5-4FB5-D7D524E8A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C0ED7-85A4-E949-B934-AF70316C9C1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23699-D7AB-A446-909B-28C1F1B70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AC82E-E407-5C74-9BA5-151D15513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F56D8-C9F6-4049-B42E-1AA334BDA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32CA576-17C6-2D12-15C4-89A0B4F02C34}"/>
              </a:ext>
            </a:extLst>
          </p:cNvPr>
          <p:cNvGrpSpPr/>
          <p:nvPr/>
        </p:nvGrpSpPr>
        <p:grpSpPr>
          <a:xfrm>
            <a:off x="1641202" y="1194635"/>
            <a:ext cx="8013835" cy="4780083"/>
            <a:chOff x="180892" y="1167339"/>
            <a:chExt cx="8013835" cy="4780083"/>
          </a:xfrm>
        </p:grpSpPr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114E00EA-82FC-81E3-A0DF-4611A60A6DA5}"/>
                </a:ext>
              </a:extLst>
            </p:cNvPr>
            <p:cNvSpPr/>
            <p:nvPr/>
          </p:nvSpPr>
          <p:spPr>
            <a:xfrm>
              <a:off x="2422088" y="3471929"/>
              <a:ext cx="1565528" cy="1331996"/>
            </a:xfrm>
            <a:prstGeom prst="roundRect">
              <a:avLst>
                <a:gd name="adj" fmla="val 52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1BDF478-A59E-C676-4CC0-4F512A681C6A}"/>
                </a:ext>
              </a:extLst>
            </p:cNvPr>
            <p:cNvSpPr/>
            <p:nvPr/>
          </p:nvSpPr>
          <p:spPr>
            <a:xfrm>
              <a:off x="180892" y="1340701"/>
              <a:ext cx="1931191" cy="346180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853CB5-8E93-1580-0317-C1F660E303E3}"/>
                </a:ext>
              </a:extLst>
            </p:cNvPr>
            <p:cNvSpPr txBox="1"/>
            <p:nvPr/>
          </p:nvSpPr>
          <p:spPr>
            <a:xfrm>
              <a:off x="518612" y="3997939"/>
              <a:ext cx="1388821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Coarse AOGCM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531236F-754E-5DAC-5F64-7199006D4423}"/>
                </a:ext>
              </a:extLst>
            </p:cNvPr>
            <p:cNvGrpSpPr/>
            <p:nvPr/>
          </p:nvGrpSpPr>
          <p:grpSpPr>
            <a:xfrm>
              <a:off x="5799698" y="3634731"/>
              <a:ext cx="2367733" cy="954107"/>
              <a:chOff x="2844346" y="2331209"/>
              <a:chExt cx="2367733" cy="95410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34456-112F-1069-D639-0FE917CCE6AD}"/>
                  </a:ext>
                </a:extLst>
              </p:cNvPr>
              <p:cNvSpPr txBox="1"/>
              <p:nvPr/>
            </p:nvSpPr>
            <p:spPr>
              <a:xfrm>
                <a:off x="2844346" y="2331209"/>
                <a:ext cx="2367733" cy="95410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08B809-21AE-5935-764A-503BC252F82F}"/>
                  </a:ext>
                </a:extLst>
              </p:cNvPr>
              <p:cNvSpPr txBox="1"/>
              <p:nvPr/>
            </p:nvSpPr>
            <p:spPr>
              <a:xfrm>
                <a:off x="3168007" y="2404801"/>
                <a:ext cx="1702518" cy="2769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RNN/FNO Architecture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8CFD70-2C0A-80D5-955A-B918D5B2557C}"/>
                </a:ext>
              </a:extLst>
            </p:cNvPr>
            <p:cNvSpPr txBox="1"/>
            <p:nvPr/>
          </p:nvSpPr>
          <p:spPr>
            <a:xfrm>
              <a:off x="6475439" y="4069236"/>
              <a:ext cx="1117358" cy="2769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Trained Model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FCC7AE5-3ECA-659C-FB03-C07BD25AFF89}"/>
                </a:ext>
              </a:extLst>
            </p:cNvPr>
            <p:cNvSpPr txBox="1"/>
            <p:nvPr/>
          </p:nvSpPr>
          <p:spPr>
            <a:xfrm>
              <a:off x="5778753" y="4326420"/>
              <a:ext cx="19121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ML based Emulator Model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96A9F0-13B9-55EC-5B74-121B421FF53C}"/>
                </a:ext>
              </a:extLst>
            </p:cNvPr>
            <p:cNvGrpSpPr/>
            <p:nvPr/>
          </p:nvGrpSpPr>
          <p:grpSpPr>
            <a:xfrm>
              <a:off x="4443764" y="1647604"/>
              <a:ext cx="3704619" cy="1600438"/>
              <a:chOff x="1511271" y="2978259"/>
              <a:chExt cx="3704619" cy="160043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7309C7-877F-92B9-069A-716C6424611D}"/>
                  </a:ext>
                </a:extLst>
              </p:cNvPr>
              <p:cNvSpPr txBox="1"/>
              <p:nvPr/>
            </p:nvSpPr>
            <p:spPr>
              <a:xfrm>
                <a:off x="1535430" y="2978259"/>
                <a:ext cx="3680460" cy="16004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  <a:p>
                <a:pPr algn="ctr"/>
                <a:endParaRPr lang="en-US" sz="1400" i="1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035B246-B994-4852-2D29-7C90FD531939}"/>
                  </a:ext>
                </a:extLst>
              </p:cNvPr>
              <p:cNvGrpSpPr/>
              <p:nvPr/>
            </p:nvGrpSpPr>
            <p:grpSpPr>
              <a:xfrm>
                <a:off x="1714082" y="3116045"/>
                <a:ext cx="3330591" cy="1138258"/>
                <a:chOff x="1714082" y="3116045"/>
                <a:chExt cx="3330591" cy="1138258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CBD078B-F292-3B9A-20C7-F45648655E7D}"/>
                    </a:ext>
                  </a:extLst>
                </p:cNvPr>
                <p:cNvSpPr txBox="1"/>
                <p:nvPr/>
              </p:nvSpPr>
              <p:spPr>
                <a:xfrm>
                  <a:off x="1714082" y="3116045"/>
                  <a:ext cx="1467388" cy="46166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3D Hydrodynamic Model (SCHISM)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A1AE7A-2528-EAE6-571C-C739C6095C27}"/>
                    </a:ext>
                  </a:extLst>
                </p:cNvPr>
                <p:cNvSpPr txBox="1"/>
                <p:nvPr/>
              </p:nvSpPr>
              <p:spPr>
                <a:xfrm>
                  <a:off x="3577284" y="3116046"/>
                  <a:ext cx="1467389" cy="46166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/>
                    <a:t>Hydrological Model</a:t>
                  </a:r>
                </a:p>
                <a:p>
                  <a:pPr algn="ctr"/>
                  <a:r>
                    <a:rPr lang="en-US" sz="1200" dirty="0"/>
                    <a:t>(NWM etc.)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431BB2-70DF-3213-6FDA-2886D24BE08A}"/>
                    </a:ext>
                  </a:extLst>
                </p:cNvPr>
                <p:cNvSpPr txBox="1"/>
                <p:nvPr/>
              </p:nvSpPr>
              <p:spPr>
                <a:xfrm>
                  <a:off x="2867206" y="3792638"/>
                  <a:ext cx="994182" cy="46166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/>
                    <a:t>Wave Model</a:t>
                  </a:r>
                </a:p>
                <a:p>
                  <a:pPr algn="ctr"/>
                  <a:r>
                    <a:rPr lang="en-US" sz="1200" dirty="0"/>
                    <a:t>(WWM3)</a:t>
                  </a:r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05AD7FF4-5BB1-57DE-75EE-FD63F786C0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81470" y="3312587"/>
                  <a:ext cx="395814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2E6ADA83-9ADD-A579-7B5E-30A57A3C3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185280" y="3384977"/>
                  <a:ext cx="395814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8F5A051B-8AA2-AF1B-5EBE-17224A66B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93496" y="3564897"/>
                  <a:ext cx="385140" cy="4402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99A54224-7ECE-FB1D-81B8-D2DBF6EC1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400300" y="3564897"/>
                  <a:ext cx="478336" cy="5484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32D10116-DE0C-3F1F-9CD3-91DFED3CC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49555" y="3569420"/>
                  <a:ext cx="385140" cy="4402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D7583D5B-605E-A51B-BD64-4517D3BD8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49555" y="3576327"/>
                  <a:ext cx="478739" cy="53700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3A1F4D-BA07-163F-290B-8056462F47C0}"/>
                  </a:ext>
                </a:extLst>
              </p:cNvPr>
              <p:cNvSpPr txBox="1"/>
              <p:nvPr/>
            </p:nvSpPr>
            <p:spPr>
              <a:xfrm>
                <a:off x="1511271" y="4113525"/>
                <a:ext cx="31996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i="1" dirty="0"/>
                  <a:t>High-Res Coupled </a:t>
                </a:r>
              </a:p>
              <a:p>
                <a:r>
                  <a:rPr lang="en-US" sz="1200" i="1" dirty="0"/>
                  <a:t>Coastal Ocean Physical Process Model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9656A3A-14FA-8EC8-8E4B-E593683F9AEC}"/>
                </a:ext>
              </a:extLst>
            </p:cNvPr>
            <p:cNvSpPr txBox="1"/>
            <p:nvPr/>
          </p:nvSpPr>
          <p:spPr>
            <a:xfrm>
              <a:off x="2422088" y="2916747"/>
              <a:ext cx="14744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Domain bathymetric/ topographic data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E50621-2471-28ED-C6FF-D53F6DEA89AB}"/>
                </a:ext>
              </a:extLst>
            </p:cNvPr>
            <p:cNvSpPr txBox="1"/>
            <p:nvPr/>
          </p:nvSpPr>
          <p:spPr>
            <a:xfrm>
              <a:off x="2378431" y="3499356"/>
              <a:ext cx="1864228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100" dirty="0"/>
                <a:t>Sea surface temp.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Wind characteristics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Sea level pressure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Precipitation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River discharge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Tidal constituents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/>
                <a:t>Etc.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9460894-C2C5-55A3-8082-4871EAC16613}"/>
                </a:ext>
              </a:extLst>
            </p:cNvPr>
            <p:cNvSpPr txBox="1"/>
            <p:nvPr/>
          </p:nvSpPr>
          <p:spPr>
            <a:xfrm>
              <a:off x="725162" y="1898723"/>
              <a:ext cx="1184094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CMEMS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8CDE6D1-762A-6665-781F-24A7A7D9B933}"/>
                </a:ext>
              </a:extLst>
            </p:cNvPr>
            <p:cNvSpPr txBox="1"/>
            <p:nvPr/>
          </p:nvSpPr>
          <p:spPr>
            <a:xfrm>
              <a:off x="720745" y="1560563"/>
              <a:ext cx="1184094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HRRR/ECMWF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B0C2C4E-BA7A-D4CA-3105-EE17DEE9308F}"/>
                </a:ext>
              </a:extLst>
            </p:cNvPr>
            <p:cNvSpPr txBox="1"/>
            <p:nvPr/>
          </p:nvSpPr>
          <p:spPr>
            <a:xfrm>
              <a:off x="2314140" y="1566648"/>
              <a:ext cx="14744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Atmospheric forcings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3D66497-168B-9559-5D21-BFBAC3920886}"/>
                </a:ext>
              </a:extLst>
            </p:cNvPr>
            <p:cNvSpPr txBox="1"/>
            <p:nvPr/>
          </p:nvSpPr>
          <p:spPr>
            <a:xfrm>
              <a:off x="2314140" y="1810851"/>
              <a:ext cx="17897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Temperature/Salinity/ Velocity fields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9BE4357-98BA-A0D6-3114-6838086C881B}"/>
                </a:ext>
              </a:extLst>
            </p:cNvPr>
            <p:cNvSpPr txBox="1"/>
            <p:nvPr/>
          </p:nvSpPr>
          <p:spPr>
            <a:xfrm>
              <a:off x="2314140" y="2219447"/>
              <a:ext cx="1789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Tidal Constituents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12A2BC-6627-0672-6A7C-668E9410A6BE}"/>
                </a:ext>
              </a:extLst>
            </p:cNvPr>
            <p:cNvSpPr txBox="1"/>
            <p:nvPr/>
          </p:nvSpPr>
          <p:spPr>
            <a:xfrm>
              <a:off x="714947" y="2226640"/>
              <a:ext cx="1184094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FES 2014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3960DB8-68B4-8C77-33B2-5B9A09F58B00}"/>
                </a:ext>
              </a:extLst>
            </p:cNvPr>
            <p:cNvSpPr txBox="1"/>
            <p:nvPr/>
          </p:nvSpPr>
          <p:spPr>
            <a:xfrm>
              <a:off x="725162" y="2584520"/>
              <a:ext cx="1184094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AVISO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A8B0177-0832-15F1-CBF1-B2C4CEE084C8}"/>
                </a:ext>
              </a:extLst>
            </p:cNvPr>
            <p:cNvCxnSpPr>
              <a:cxnSpLocks/>
              <a:stCxn id="67" idx="3"/>
              <a:endCxn id="68" idx="1"/>
            </p:cNvCxnSpPr>
            <p:nvPr/>
          </p:nvCxnSpPr>
          <p:spPr>
            <a:xfrm flipV="1">
              <a:off x="1904839" y="1697453"/>
              <a:ext cx="409301" cy="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16826E5-8D7F-F994-CDE2-DF174F5BAB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7433" y="2051095"/>
              <a:ext cx="409301" cy="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725FBC5-4134-845E-A0D0-B4F75F73D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987" y="2694825"/>
              <a:ext cx="409301" cy="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FA62281-1AD4-D46D-2B64-6134C4252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9041" y="2342607"/>
              <a:ext cx="409301" cy="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34E03C9-4566-A97D-F2F0-A32E04FFB007}"/>
                </a:ext>
              </a:extLst>
            </p:cNvPr>
            <p:cNvCxnSpPr>
              <a:cxnSpLocks/>
              <a:endCxn id="61" idx="1"/>
            </p:cNvCxnSpPr>
            <p:nvPr/>
          </p:nvCxnSpPr>
          <p:spPr>
            <a:xfrm>
              <a:off x="2129483" y="4137993"/>
              <a:ext cx="2489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29C129D-FF06-6DD9-920F-AAABAB9A6F1B}"/>
                </a:ext>
              </a:extLst>
            </p:cNvPr>
            <p:cNvSpPr txBox="1"/>
            <p:nvPr/>
          </p:nvSpPr>
          <p:spPr>
            <a:xfrm>
              <a:off x="2316734" y="2562317"/>
              <a:ext cx="17897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Sea surface height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4608FCE-269D-01D6-F271-A593F1EA26C1}"/>
                </a:ext>
              </a:extLst>
            </p:cNvPr>
            <p:cNvSpPr txBox="1"/>
            <p:nvPr/>
          </p:nvSpPr>
          <p:spPr>
            <a:xfrm rot="16200000">
              <a:off x="-1269361" y="2666380"/>
              <a:ext cx="3275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CMIP Model/Observations/ Reanalysis</a:t>
              </a:r>
            </a:p>
          </p:txBody>
        </p:sp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75B75887-1BF8-963D-5C49-C4DAB006FC4A}"/>
                </a:ext>
              </a:extLst>
            </p:cNvPr>
            <p:cNvSpPr/>
            <p:nvPr/>
          </p:nvSpPr>
          <p:spPr>
            <a:xfrm>
              <a:off x="3823056" y="1516518"/>
              <a:ext cx="153802" cy="1317836"/>
            </a:xfrm>
            <a:prstGeom prst="rightBrac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672EF7A-DF63-D745-8D33-525CC645F0F9}"/>
                </a:ext>
              </a:extLst>
            </p:cNvPr>
            <p:cNvCxnSpPr>
              <a:cxnSpLocks/>
            </p:cNvCxnSpPr>
            <p:nvPr/>
          </p:nvCxnSpPr>
          <p:spPr>
            <a:xfrm>
              <a:off x="3933675" y="2169444"/>
              <a:ext cx="510088" cy="627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003C686-3381-5E25-1AF9-7A2E6F7DF355}"/>
                </a:ext>
              </a:extLst>
            </p:cNvPr>
            <p:cNvSpPr txBox="1"/>
            <p:nvPr/>
          </p:nvSpPr>
          <p:spPr>
            <a:xfrm>
              <a:off x="714947" y="3019222"/>
              <a:ext cx="1184094" cy="27699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DEM Source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7DA6CEFD-6AE4-B808-1DE9-B784C2077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7433" y="3132190"/>
              <a:ext cx="409301" cy="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ED884B1-3989-421C-D6A8-D12DD7A8A7EB}"/>
                </a:ext>
              </a:extLst>
            </p:cNvPr>
            <p:cNvCxnSpPr>
              <a:cxnSpLocks/>
            </p:cNvCxnSpPr>
            <p:nvPr/>
          </p:nvCxnSpPr>
          <p:spPr>
            <a:xfrm>
              <a:off x="3840573" y="3153141"/>
              <a:ext cx="579032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9970994-5F43-2446-6985-27C64D0FEB66}"/>
                </a:ext>
              </a:extLst>
            </p:cNvPr>
            <p:cNvSpPr txBox="1"/>
            <p:nvPr/>
          </p:nvSpPr>
          <p:spPr>
            <a:xfrm>
              <a:off x="6890950" y="5106961"/>
              <a:ext cx="1303777" cy="83099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OUTPUT 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HR long-term Total Water Level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1E9DC7A-92BF-D66C-006A-D96E81F3087C}"/>
                </a:ext>
              </a:extLst>
            </p:cNvPr>
            <p:cNvGrpSpPr/>
            <p:nvPr/>
          </p:nvGrpSpPr>
          <p:grpSpPr>
            <a:xfrm>
              <a:off x="4424251" y="4808768"/>
              <a:ext cx="2369630" cy="1138654"/>
              <a:chOff x="5778753" y="4861677"/>
              <a:chExt cx="2369630" cy="1138654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3B7A26F-C19D-2C3F-B64F-53C885F0DD63}"/>
                  </a:ext>
                </a:extLst>
              </p:cNvPr>
              <p:cNvGrpSpPr/>
              <p:nvPr/>
            </p:nvGrpSpPr>
            <p:grpSpPr>
              <a:xfrm>
                <a:off x="5778753" y="4861677"/>
                <a:ext cx="2369630" cy="1138654"/>
                <a:chOff x="2842449" y="2331209"/>
                <a:chExt cx="2369630" cy="1138654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C813157-46E0-448F-13EA-9C1F6A6F31D6}"/>
                    </a:ext>
                  </a:extLst>
                </p:cNvPr>
                <p:cNvSpPr txBox="1"/>
                <p:nvPr/>
              </p:nvSpPr>
              <p:spPr>
                <a:xfrm>
                  <a:off x="2842449" y="2331209"/>
                  <a:ext cx="2369630" cy="1138654"/>
                </a:xfrm>
                <a:prstGeom prst="parallelogram">
                  <a:avLst>
                    <a:gd name="adj" fmla="val 0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>
                      <a:lumMod val="75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Validation &amp; Evaluation</a:t>
                  </a:r>
                </a:p>
                <a:p>
                  <a:pPr algn="ctr"/>
                  <a:endParaRPr lang="en-US" sz="1400" dirty="0"/>
                </a:p>
                <a:p>
                  <a:pPr algn="ctr"/>
                  <a:endParaRPr lang="en-US" sz="1400" dirty="0"/>
                </a:p>
                <a:p>
                  <a:pPr algn="ctr"/>
                  <a:endParaRPr lang="en-US" sz="1400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839BCA4-E037-A5E3-6B2C-6CC3EBF955B8}"/>
                    </a:ext>
                  </a:extLst>
                </p:cNvPr>
                <p:cNvSpPr txBox="1"/>
                <p:nvPr/>
              </p:nvSpPr>
              <p:spPr>
                <a:xfrm>
                  <a:off x="3448410" y="2708088"/>
                  <a:ext cx="1197699" cy="276999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/>
                    <a:t>Validation Data</a:t>
                  </a:r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49E310B-A59E-9933-A831-86AFEAD00CF9}"/>
                  </a:ext>
                </a:extLst>
              </p:cNvPr>
              <p:cNvSpPr txBox="1"/>
              <p:nvPr/>
            </p:nvSpPr>
            <p:spPr>
              <a:xfrm>
                <a:off x="6178513" y="5571179"/>
                <a:ext cx="1570110" cy="27699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Performance Metrics</a:t>
                </a:r>
              </a:p>
            </p:txBody>
          </p:sp>
        </p:grpSp>
        <p:cxnSp>
          <p:nvCxnSpPr>
            <p:cNvPr id="111" name="Elbow Connector 110">
              <a:extLst>
                <a:ext uri="{FF2B5EF4-FFF2-40B4-BE49-F238E27FC236}">
                  <a16:creationId xmlns:a16="http://schemas.microsoft.com/office/drawing/2014/main" id="{6800C3C4-B34A-A61A-50FD-D2835BDE52A8}"/>
                </a:ext>
              </a:extLst>
            </p:cNvPr>
            <p:cNvCxnSpPr/>
            <p:nvPr/>
          </p:nvCxnSpPr>
          <p:spPr>
            <a:xfrm rot="16200000" flipH="1">
              <a:off x="3944021" y="3352024"/>
              <a:ext cx="694047" cy="305439"/>
            </a:xfrm>
            <a:prstGeom prst="bentConnector3">
              <a:avLst>
                <a:gd name="adj1" fmla="val 101127"/>
              </a:avLst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9541465-C127-6555-500F-9C7293073935}"/>
                </a:ext>
              </a:extLst>
            </p:cNvPr>
            <p:cNvSpPr txBox="1"/>
            <p:nvPr/>
          </p:nvSpPr>
          <p:spPr>
            <a:xfrm>
              <a:off x="4443763" y="3762472"/>
              <a:ext cx="1133885" cy="52322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Data Preparation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89793814-48EB-AD30-B851-F4B334D90A97}"/>
                </a:ext>
              </a:extLst>
            </p:cNvPr>
            <p:cNvCxnSpPr>
              <a:cxnSpLocks/>
            </p:cNvCxnSpPr>
            <p:nvPr/>
          </p:nvCxnSpPr>
          <p:spPr>
            <a:xfrm>
              <a:off x="5095269" y="3255277"/>
              <a:ext cx="0" cy="50719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36696EA-8CE0-9E39-44F7-FF9654B69AAC}"/>
                </a:ext>
              </a:extLst>
            </p:cNvPr>
            <p:cNvSpPr txBox="1"/>
            <p:nvPr/>
          </p:nvSpPr>
          <p:spPr>
            <a:xfrm>
              <a:off x="5069370" y="3317732"/>
              <a:ext cx="17924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Modeled Total Water Level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977E8ED9-B7D0-627F-AF7B-453E9FE7A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5912" y="4039914"/>
              <a:ext cx="213786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C446C557-0AE8-A042-3C7E-ECE5EEDA9757}"/>
                </a:ext>
              </a:extLst>
            </p:cNvPr>
            <p:cNvCxnSpPr>
              <a:cxnSpLocks/>
            </p:cNvCxnSpPr>
            <p:nvPr/>
          </p:nvCxnSpPr>
          <p:spPr>
            <a:xfrm>
              <a:off x="7579358" y="4586118"/>
              <a:ext cx="0" cy="50719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8EAB3E5-D910-8444-6BFB-58E95999DD62}"/>
                </a:ext>
              </a:extLst>
            </p:cNvPr>
            <p:cNvCxnSpPr>
              <a:cxnSpLocks/>
            </p:cNvCxnSpPr>
            <p:nvPr/>
          </p:nvCxnSpPr>
          <p:spPr>
            <a:xfrm>
              <a:off x="5076299" y="4285692"/>
              <a:ext cx="0" cy="50719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A9485175-1B9A-903A-EE08-C45C174CB927}"/>
                </a:ext>
              </a:extLst>
            </p:cNvPr>
            <p:cNvCxnSpPr/>
            <p:nvPr/>
          </p:nvCxnSpPr>
          <p:spPr>
            <a:xfrm flipV="1">
              <a:off x="6227911" y="4586118"/>
              <a:ext cx="0" cy="21639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A3EF64F-5CC7-4339-76B6-ABDFCDF39CC1}"/>
                </a:ext>
              </a:extLst>
            </p:cNvPr>
            <p:cNvSpPr txBox="1"/>
            <p:nvPr/>
          </p:nvSpPr>
          <p:spPr>
            <a:xfrm>
              <a:off x="2374335" y="4792887"/>
              <a:ext cx="14686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(Long-term </a:t>
              </a:r>
            </a:p>
            <a:p>
              <a:pPr algn="ctr"/>
              <a:r>
                <a:rPr lang="en-US" sz="1200" i="1" dirty="0"/>
                <a:t>predictor variables)</a:t>
              </a: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90D1A637-427C-5E98-B5E9-200340B98549}"/>
                </a:ext>
              </a:extLst>
            </p:cNvPr>
            <p:cNvCxnSpPr>
              <a:cxnSpLocks/>
            </p:cNvCxnSpPr>
            <p:nvPr/>
          </p:nvCxnSpPr>
          <p:spPr>
            <a:xfrm>
              <a:off x="3964538" y="4114923"/>
              <a:ext cx="46871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60DF7F9C-B926-D776-A06A-B221EE08DC78}"/>
                </a:ext>
              </a:extLst>
            </p:cNvPr>
            <p:cNvCxnSpPr>
              <a:stCxn id="16" idx="3"/>
              <a:endCxn id="24" idx="3"/>
            </p:cNvCxnSpPr>
            <p:nvPr/>
          </p:nvCxnSpPr>
          <p:spPr>
            <a:xfrm flipH="1">
              <a:off x="7592797" y="3846823"/>
              <a:ext cx="233080" cy="360913"/>
            </a:xfrm>
            <a:prstGeom prst="bentConnector3">
              <a:avLst>
                <a:gd name="adj1" fmla="val -98078"/>
              </a:avLst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>
              <a:extLst>
                <a:ext uri="{FF2B5EF4-FFF2-40B4-BE49-F238E27FC236}">
                  <a16:creationId xmlns:a16="http://schemas.microsoft.com/office/drawing/2014/main" id="{B9377C47-DBAB-E038-1C2F-877FCE3353E6}"/>
                </a:ext>
              </a:extLst>
            </p:cNvPr>
            <p:cNvCxnSpPr>
              <a:stCxn id="24" idx="1"/>
              <a:endCxn id="16" idx="1"/>
            </p:cNvCxnSpPr>
            <p:nvPr/>
          </p:nvCxnSpPr>
          <p:spPr>
            <a:xfrm rot="10800000">
              <a:off x="6123359" y="3846824"/>
              <a:ext cx="352080" cy="360913"/>
            </a:xfrm>
            <a:prstGeom prst="bentConnector3">
              <a:avLst>
                <a:gd name="adj1" fmla="val 164928"/>
              </a:avLst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EC68C90-DC13-5524-D7F1-F341D5408EE3}"/>
                </a:ext>
              </a:extLst>
            </p:cNvPr>
            <p:cNvSpPr txBox="1"/>
            <p:nvPr/>
          </p:nvSpPr>
          <p:spPr>
            <a:xfrm>
              <a:off x="7643372" y="3985322"/>
              <a:ext cx="4519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Test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1D57ED5-C020-C563-AE79-0645E58C838F}"/>
                </a:ext>
              </a:extLst>
            </p:cNvPr>
            <p:cNvSpPr txBox="1"/>
            <p:nvPr/>
          </p:nvSpPr>
          <p:spPr>
            <a:xfrm>
              <a:off x="5968284" y="3986577"/>
              <a:ext cx="501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Train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157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ea level model&#10;&#10;Description automatically generated">
            <a:extLst>
              <a:ext uri="{FF2B5EF4-FFF2-40B4-BE49-F238E27FC236}">
                <a16:creationId xmlns:a16="http://schemas.microsoft.com/office/drawing/2014/main" id="{535DB3F5-5937-1F4F-7777-0C5F5011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21" y="683466"/>
            <a:ext cx="5248688" cy="3576373"/>
          </a:xfrm>
          <a:prstGeom prst="rect">
            <a:avLst/>
          </a:prstGeom>
        </p:spPr>
      </p:pic>
      <p:pic>
        <p:nvPicPr>
          <p:cNvPr id="5" name="Picture 4" descr="A diagram of water quality testing&#10;&#10;Description automatically generated">
            <a:extLst>
              <a:ext uri="{FF2B5EF4-FFF2-40B4-BE49-F238E27FC236}">
                <a16:creationId xmlns:a16="http://schemas.microsoft.com/office/drawing/2014/main" id="{D5EAB4ED-8EFB-BDA9-EC68-A79DB9006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402" y="1015682"/>
            <a:ext cx="4635319" cy="33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04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112</Words>
  <Application>Microsoft Macintosh PowerPoint</Application>
  <PresentationFormat>Widescreen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Muruganandham</dc:creator>
  <cp:lastModifiedBy>Shiva Muruganandham</cp:lastModifiedBy>
  <cp:revision>8</cp:revision>
  <dcterms:created xsi:type="dcterms:W3CDTF">2024-08-29T12:53:25Z</dcterms:created>
  <dcterms:modified xsi:type="dcterms:W3CDTF">2024-08-29T15:07:19Z</dcterms:modified>
</cp:coreProperties>
</file>